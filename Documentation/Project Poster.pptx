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25201563" cy="35999738"/>
  <p:notesSz cx="6715125" cy="9239250"/>
  <p:defaultTex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5289">
          <p15:clr>
            <a:srgbClr val="A4A3A4"/>
          </p15:clr>
        </p15:guide>
        <p15:guide id="2" orient="horz" pos="22086">
          <p15:clr>
            <a:srgbClr val="A4A3A4"/>
          </p15:clr>
        </p15:guide>
        <p15:guide id="3" orient="horz" pos="2349">
          <p15:clr>
            <a:srgbClr val="A4A3A4"/>
          </p15:clr>
        </p15:guide>
        <p15:guide id="4" pos="793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0046D2"/>
    <a:srgbClr val="FF0000"/>
    <a:srgbClr val="698ED9"/>
    <a:srgbClr val="A7C4FF"/>
    <a:srgbClr val="003064"/>
    <a:srgbClr val="003399"/>
    <a:srgbClr val="0021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F50C76-3026-444F-81B2-9CC3BE465F20}" v="7" dt="2023-10-15T20:05:06.99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934" autoAdjust="0"/>
    <p:restoredTop sz="94660"/>
  </p:normalViewPr>
  <p:slideViewPr>
    <p:cSldViewPr snapToGrid="0" showGuides="1">
      <p:cViewPr>
        <p:scale>
          <a:sx n="25" d="100"/>
          <a:sy n="25" d="100"/>
        </p:scale>
        <p:origin x="1320" y="14"/>
      </p:cViewPr>
      <p:guideLst>
        <p:guide orient="horz" pos="5289"/>
        <p:guide orient="horz" pos="22086"/>
        <p:guide orient="horz" pos="2349"/>
        <p:guide pos="793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lvl1pPr>
          </a:lstStyle>
          <a:p>
            <a:pPr>
              <a:defRPr/>
            </a:pPr>
            <a:endParaRPr lang="en-US" altLang="en-US"/>
          </a:p>
        </p:txBody>
      </p:sp>
      <p:sp>
        <p:nvSpPr>
          <p:cNvPr id="3075" name="Rectangle 3"/>
          <p:cNvSpPr>
            <a:spLocks noGrp="1" noChangeArrowheads="1"/>
          </p:cNvSpPr>
          <p:nvPr>
            <p:ph type="dt" idx="1"/>
          </p:nvPr>
        </p:nvSpPr>
        <p:spPr bwMode="auto">
          <a:xfrm>
            <a:off x="380365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2144713" y="692150"/>
            <a:ext cx="2427287" cy="346551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71513" y="4389438"/>
            <a:ext cx="5372100" cy="415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p:cNvSpPr>
            <a:spLocks noGrp="1" noChangeArrowheads="1"/>
          </p:cNvSpPr>
          <p:nvPr>
            <p:ph type="ftr" sz="quarter" idx="4"/>
          </p:nvPr>
        </p:nvSpPr>
        <p:spPr bwMode="auto">
          <a:xfrm>
            <a:off x="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en-US" altLang="en-US"/>
          </a:p>
        </p:txBody>
      </p:sp>
      <p:sp>
        <p:nvSpPr>
          <p:cNvPr id="3079" name="Rectangle 7"/>
          <p:cNvSpPr>
            <a:spLocks noGrp="1" noChangeArrowheads="1"/>
          </p:cNvSpPr>
          <p:nvPr>
            <p:ph type="sldNum" sz="quarter" idx="5"/>
          </p:nvPr>
        </p:nvSpPr>
        <p:spPr bwMode="auto">
          <a:xfrm>
            <a:off x="380365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CBF2D407-7488-4806-B042-2CE959A140D0}" type="slidenum">
              <a:rPr lang="en-US" altLang="en-US"/>
              <a:pPr>
                <a:defRPr/>
              </a:pPr>
              <a:t>‹#›</a:t>
            </a:fld>
            <a:endParaRPr lang="en-US" altLang="en-US"/>
          </a:p>
        </p:txBody>
      </p:sp>
    </p:spTree>
    <p:extLst>
      <p:ext uri="{BB962C8B-B14F-4D97-AF65-F5344CB8AC3E}">
        <p14:creationId xmlns:p14="http://schemas.microsoft.com/office/powerpoint/2010/main" val="16044517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fld id="{8832FB4B-BF18-4E6F-9FD7-11EF81A610E2}" type="slidenum">
              <a:rPr lang="en-US" altLang="en-US" sz="1200"/>
              <a:pPr eaLnBrk="1" hangingPunct="1"/>
              <a:t>1</a:t>
            </a:fld>
            <a:endParaRPr lang="en-US" altLang="en-US" sz="1200"/>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90713" y="11183938"/>
            <a:ext cx="21420137" cy="771525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3779838" y="20399375"/>
            <a:ext cx="17641887" cy="92011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81917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260475" y="8399463"/>
            <a:ext cx="22680613" cy="23758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005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90725" y="23133050"/>
            <a:ext cx="21421725" cy="7150100"/>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990725" y="15257463"/>
            <a:ext cx="21421725" cy="78755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04315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260475" y="8399463"/>
            <a:ext cx="11263313" cy="237585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676188" y="8399463"/>
            <a:ext cx="11264900" cy="237585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0021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60475" y="8058150"/>
            <a:ext cx="11134725" cy="33591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0475" y="11417300"/>
            <a:ext cx="11134725" cy="207406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801600" y="8058150"/>
            <a:ext cx="11139488" cy="33591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2801600" y="11417300"/>
            <a:ext cx="11139488" cy="207406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3921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993440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195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0475" y="1433513"/>
            <a:ext cx="8291513" cy="6099175"/>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9853613" y="1433513"/>
            <a:ext cx="14087475" cy="3072447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60475" y="7532688"/>
            <a:ext cx="8291513" cy="246253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27138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40300" y="25199975"/>
            <a:ext cx="15120938" cy="2974975"/>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4940300" y="3216275"/>
            <a:ext cx="15120938" cy="21599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4940300" y="28174950"/>
            <a:ext cx="15120938" cy="422433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02676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260475" y="8399463"/>
            <a:ext cx="22680613" cy="23758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554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272125" y="1441450"/>
            <a:ext cx="5668963" cy="307165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260475" y="1441450"/>
            <a:ext cx="16859250" cy="307165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6231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hyperlink" Target="http://www.megaprint.com/" TargetMode="Externa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a:hlinkClick r:id="rId13"/>
            <a:extLst>
              <a:ext uri="{FF2B5EF4-FFF2-40B4-BE49-F238E27FC236}">
                <a16:creationId xmlns:a16="http://schemas.microsoft.com/office/drawing/2014/main" id="{6BFFBEBF-6F96-4D73-87E7-3525B82575BF}"/>
              </a:ext>
            </a:extLst>
          </p:cNvPr>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r="38727"/>
          <a:stretch>
            <a:fillRect/>
          </a:stretch>
        </p:blipFill>
        <p:spPr bwMode="auto">
          <a:xfrm>
            <a:off x="19379372" y="35425506"/>
            <a:ext cx="3255359" cy="1671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1">
            <a:extLst>
              <a:ext uri="{FF2B5EF4-FFF2-40B4-BE49-F238E27FC236}">
                <a16:creationId xmlns:a16="http://schemas.microsoft.com/office/drawing/2014/main" id="{9C365D95-4213-4FDE-84BF-DFB5A2F65993}"/>
              </a:ext>
            </a:extLst>
          </p:cNvPr>
          <p:cNvSpPr txBox="1"/>
          <p:nvPr userDrawn="1"/>
        </p:nvSpPr>
        <p:spPr>
          <a:xfrm>
            <a:off x="22611872" y="35348670"/>
            <a:ext cx="1975669" cy="292388"/>
          </a:xfrm>
          <a:prstGeom prst="rect">
            <a:avLst/>
          </a:prstGeom>
          <a:noFill/>
        </p:spPr>
        <p:txBody>
          <a:bodyPr wrap="none" rtlCol="0">
            <a:spAutoFit/>
          </a:bodyPr>
          <a:lstStyle>
            <a:defPPr>
              <a:defRPr lang="en-US"/>
            </a:defPPr>
            <a:lvl1pPr algn="ctr" rtl="0" fontAlgn="base">
              <a:spcBef>
                <a:spcPct val="0"/>
              </a:spcBef>
              <a:spcAft>
                <a:spcPct val="0"/>
              </a:spcAft>
              <a:defRPr sz="9700" kern="1200">
                <a:solidFill>
                  <a:schemeClr val="tx1"/>
                </a:solidFill>
                <a:latin typeface="Arial" charset="0"/>
                <a:ea typeface="+mn-ea"/>
                <a:cs typeface="+mn-cs"/>
              </a:defRPr>
            </a:lvl1pPr>
            <a:lvl2pPr marL="457200" algn="ctr" rtl="0" fontAlgn="base">
              <a:spcBef>
                <a:spcPct val="0"/>
              </a:spcBef>
              <a:spcAft>
                <a:spcPct val="0"/>
              </a:spcAft>
              <a:defRPr sz="9700" kern="1200">
                <a:solidFill>
                  <a:schemeClr val="tx1"/>
                </a:solidFill>
                <a:latin typeface="Arial" charset="0"/>
                <a:ea typeface="+mn-ea"/>
                <a:cs typeface="+mn-cs"/>
              </a:defRPr>
            </a:lvl2pPr>
            <a:lvl3pPr marL="914400" algn="ctr" rtl="0" fontAlgn="base">
              <a:spcBef>
                <a:spcPct val="0"/>
              </a:spcBef>
              <a:spcAft>
                <a:spcPct val="0"/>
              </a:spcAft>
              <a:defRPr sz="9700" kern="1200">
                <a:solidFill>
                  <a:schemeClr val="tx1"/>
                </a:solidFill>
                <a:latin typeface="Arial" charset="0"/>
                <a:ea typeface="+mn-ea"/>
                <a:cs typeface="+mn-cs"/>
              </a:defRPr>
            </a:lvl3pPr>
            <a:lvl4pPr marL="1371600" algn="ctr" rtl="0" fontAlgn="base">
              <a:spcBef>
                <a:spcPct val="0"/>
              </a:spcBef>
              <a:spcAft>
                <a:spcPct val="0"/>
              </a:spcAft>
              <a:defRPr sz="9700" kern="1200">
                <a:solidFill>
                  <a:schemeClr val="tx1"/>
                </a:solidFill>
                <a:latin typeface="Arial" charset="0"/>
                <a:ea typeface="+mn-ea"/>
                <a:cs typeface="+mn-cs"/>
              </a:defRPr>
            </a:lvl4pPr>
            <a:lvl5pPr marL="1828800" algn="ctr" rtl="0" fontAlgn="base">
              <a:spcBef>
                <a:spcPct val="0"/>
              </a:spcBef>
              <a:spcAft>
                <a:spcPct val="0"/>
              </a:spcAft>
              <a:defRPr sz="9700" kern="1200">
                <a:solidFill>
                  <a:schemeClr val="tx1"/>
                </a:solidFill>
                <a:latin typeface="Arial" charset="0"/>
                <a:ea typeface="+mn-ea"/>
                <a:cs typeface="+mn-cs"/>
              </a:defRPr>
            </a:lvl5pPr>
            <a:lvl6pPr marL="2286000" algn="l" defTabSz="914400" rtl="0" eaLnBrk="1" latinLnBrk="0" hangingPunct="1">
              <a:defRPr sz="9700" kern="1200">
                <a:solidFill>
                  <a:schemeClr val="tx1"/>
                </a:solidFill>
                <a:latin typeface="Arial" charset="0"/>
                <a:ea typeface="+mn-ea"/>
                <a:cs typeface="+mn-cs"/>
              </a:defRPr>
            </a:lvl6pPr>
            <a:lvl7pPr marL="2743200" algn="l" defTabSz="914400" rtl="0" eaLnBrk="1" latinLnBrk="0" hangingPunct="1">
              <a:defRPr sz="9700" kern="1200">
                <a:solidFill>
                  <a:schemeClr val="tx1"/>
                </a:solidFill>
                <a:latin typeface="Arial" charset="0"/>
                <a:ea typeface="+mn-ea"/>
                <a:cs typeface="+mn-cs"/>
              </a:defRPr>
            </a:lvl7pPr>
            <a:lvl8pPr marL="3200400" algn="l" defTabSz="914400" rtl="0" eaLnBrk="1" latinLnBrk="0" hangingPunct="1">
              <a:defRPr sz="9700" kern="1200">
                <a:solidFill>
                  <a:schemeClr val="tx1"/>
                </a:solidFill>
                <a:latin typeface="Arial" charset="0"/>
                <a:ea typeface="+mn-ea"/>
                <a:cs typeface="+mn-cs"/>
              </a:defRPr>
            </a:lvl8pPr>
            <a:lvl9pPr marL="3657600" algn="l" defTabSz="914400" rtl="0" eaLnBrk="1" latinLnBrk="0" hangingPunct="1">
              <a:defRPr sz="9700" kern="1200">
                <a:solidFill>
                  <a:schemeClr val="tx1"/>
                </a:solidFill>
                <a:latin typeface="Arial" charset="0"/>
                <a:ea typeface="+mn-ea"/>
                <a:cs typeface="+mn-cs"/>
              </a:defRPr>
            </a:lvl9pPr>
          </a:lstStyle>
          <a:p>
            <a:r>
              <a:rPr lang="en-US" sz="1300" dirty="0">
                <a:solidFill>
                  <a:schemeClr val="bg1"/>
                </a:solidFill>
              </a:rPr>
              <a:t>www.postersession.com</a:t>
            </a:r>
          </a:p>
        </p:txBody>
      </p:sp>
      <p:sp>
        <p:nvSpPr>
          <p:cNvPr id="6" name="TextBox 1">
            <a:extLst>
              <a:ext uri="{FF2B5EF4-FFF2-40B4-BE49-F238E27FC236}">
                <a16:creationId xmlns:a16="http://schemas.microsoft.com/office/drawing/2014/main" id="{C7E6A034-93E0-421C-ACA5-B28573E1673A}"/>
              </a:ext>
            </a:extLst>
          </p:cNvPr>
          <p:cNvSpPr txBox="1"/>
          <p:nvPr userDrawn="1"/>
        </p:nvSpPr>
        <p:spPr>
          <a:xfrm>
            <a:off x="0" y="35876627"/>
            <a:ext cx="461986" cy="123111"/>
          </a:xfrm>
          <a:prstGeom prst="rect">
            <a:avLst/>
          </a:prstGeom>
          <a:noFill/>
        </p:spPr>
        <p:txBody>
          <a:bodyPr wrap="none" rtlCol="0">
            <a:spAutoFit/>
          </a:bodyPr>
          <a:lstStyle>
            <a:defPPr>
              <a:defRPr lang="en-US"/>
            </a:defPPr>
            <a:lvl1pPr algn="ctr" rtl="0" fontAlgn="base">
              <a:spcBef>
                <a:spcPct val="0"/>
              </a:spcBef>
              <a:spcAft>
                <a:spcPct val="0"/>
              </a:spcAft>
              <a:defRPr sz="9700" kern="1200">
                <a:solidFill>
                  <a:schemeClr val="tx1"/>
                </a:solidFill>
                <a:latin typeface="Arial" charset="0"/>
                <a:ea typeface="+mn-ea"/>
                <a:cs typeface="+mn-cs"/>
              </a:defRPr>
            </a:lvl1pPr>
            <a:lvl2pPr marL="457200" algn="ctr" rtl="0" fontAlgn="base">
              <a:spcBef>
                <a:spcPct val="0"/>
              </a:spcBef>
              <a:spcAft>
                <a:spcPct val="0"/>
              </a:spcAft>
              <a:defRPr sz="9700" kern="1200">
                <a:solidFill>
                  <a:schemeClr val="tx1"/>
                </a:solidFill>
                <a:latin typeface="Arial" charset="0"/>
                <a:ea typeface="+mn-ea"/>
                <a:cs typeface="+mn-cs"/>
              </a:defRPr>
            </a:lvl2pPr>
            <a:lvl3pPr marL="914400" algn="ctr" rtl="0" fontAlgn="base">
              <a:spcBef>
                <a:spcPct val="0"/>
              </a:spcBef>
              <a:spcAft>
                <a:spcPct val="0"/>
              </a:spcAft>
              <a:defRPr sz="9700" kern="1200">
                <a:solidFill>
                  <a:schemeClr val="tx1"/>
                </a:solidFill>
                <a:latin typeface="Arial" charset="0"/>
                <a:ea typeface="+mn-ea"/>
                <a:cs typeface="+mn-cs"/>
              </a:defRPr>
            </a:lvl3pPr>
            <a:lvl4pPr marL="1371600" algn="ctr" rtl="0" fontAlgn="base">
              <a:spcBef>
                <a:spcPct val="0"/>
              </a:spcBef>
              <a:spcAft>
                <a:spcPct val="0"/>
              </a:spcAft>
              <a:defRPr sz="9700" kern="1200">
                <a:solidFill>
                  <a:schemeClr val="tx1"/>
                </a:solidFill>
                <a:latin typeface="Arial" charset="0"/>
                <a:ea typeface="+mn-ea"/>
                <a:cs typeface="+mn-cs"/>
              </a:defRPr>
            </a:lvl4pPr>
            <a:lvl5pPr marL="1828800" algn="ctr" rtl="0" fontAlgn="base">
              <a:spcBef>
                <a:spcPct val="0"/>
              </a:spcBef>
              <a:spcAft>
                <a:spcPct val="0"/>
              </a:spcAft>
              <a:defRPr sz="9700" kern="1200">
                <a:solidFill>
                  <a:schemeClr val="tx1"/>
                </a:solidFill>
                <a:latin typeface="Arial" charset="0"/>
                <a:ea typeface="+mn-ea"/>
                <a:cs typeface="+mn-cs"/>
              </a:defRPr>
            </a:lvl5pPr>
            <a:lvl6pPr marL="2286000" algn="l" defTabSz="914400" rtl="0" eaLnBrk="1" latinLnBrk="0" hangingPunct="1">
              <a:defRPr sz="9700" kern="1200">
                <a:solidFill>
                  <a:schemeClr val="tx1"/>
                </a:solidFill>
                <a:latin typeface="Arial" charset="0"/>
                <a:ea typeface="+mn-ea"/>
                <a:cs typeface="+mn-cs"/>
              </a:defRPr>
            </a:lvl6pPr>
            <a:lvl7pPr marL="2743200" algn="l" defTabSz="914400" rtl="0" eaLnBrk="1" latinLnBrk="0" hangingPunct="1">
              <a:defRPr sz="9700" kern="1200">
                <a:solidFill>
                  <a:schemeClr val="tx1"/>
                </a:solidFill>
                <a:latin typeface="Arial" charset="0"/>
                <a:ea typeface="+mn-ea"/>
                <a:cs typeface="+mn-cs"/>
              </a:defRPr>
            </a:lvl7pPr>
            <a:lvl8pPr marL="3200400" algn="l" defTabSz="914400" rtl="0" eaLnBrk="1" latinLnBrk="0" hangingPunct="1">
              <a:defRPr sz="9700" kern="1200">
                <a:solidFill>
                  <a:schemeClr val="tx1"/>
                </a:solidFill>
                <a:latin typeface="Arial" charset="0"/>
                <a:ea typeface="+mn-ea"/>
                <a:cs typeface="+mn-cs"/>
              </a:defRPr>
            </a:lvl8pPr>
            <a:lvl9pPr marL="3657600" algn="l" defTabSz="914400" rtl="0" eaLnBrk="1" latinLnBrk="0" hangingPunct="1">
              <a:defRPr sz="9700" kern="1200">
                <a:solidFill>
                  <a:schemeClr val="tx1"/>
                </a:solidFill>
                <a:latin typeface="Arial" charset="0"/>
                <a:ea typeface="+mn-ea"/>
                <a:cs typeface="+mn-cs"/>
              </a:defRPr>
            </a:lvl9pPr>
          </a:lstStyle>
          <a:p>
            <a:r>
              <a:rPr lang="en-US" sz="200" dirty="0">
                <a:solidFill>
                  <a:srgbClr val="003064"/>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97263" rtl="0" eaLnBrk="0" fontAlgn="base" hangingPunct="0">
        <a:spcBef>
          <a:spcPct val="0"/>
        </a:spcBef>
        <a:spcAft>
          <a:spcPct val="0"/>
        </a:spcAft>
        <a:defRPr sz="16800">
          <a:solidFill>
            <a:schemeClr val="tx2"/>
          </a:solidFill>
          <a:latin typeface="+mj-lt"/>
          <a:ea typeface="+mj-ea"/>
          <a:cs typeface="+mj-cs"/>
        </a:defRPr>
      </a:lvl1pPr>
      <a:lvl2pPr algn="ctr" defTabSz="3497263" rtl="0" eaLnBrk="0" fontAlgn="base" hangingPunct="0">
        <a:spcBef>
          <a:spcPct val="0"/>
        </a:spcBef>
        <a:spcAft>
          <a:spcPct val="0"/>
        </a:spcAft>
        <a:defRPr sz="16800">
          <a:solidFill>
            <a:schemeClr val="tx2"/>
          </a:solidFill>
          <a:latin typeface="Arial" charset="0"/>
        </a:defRPr>
      </a:lvl2pPr>
      <a:lvl3pPr algn="ctr" defTabSz="3497263" rtl="0" eaLnBrk="0" fontAlgn="base" hangingPunct="0">
        <a:spcBef>
          <a:spcPct val="0"/>
        </a:spcBef>
        <a:spcAft>
          <a:spcPct val="0"/>
        </a:spcAft>
        <a:defRPr sz="16800">
          <a:solidFill>
            <a:schemeClr val="tx2"/>
          </a:solidFill>
          <a:latin typeface="Arial" charset="0"/>
        </a:defRPr>
      </a:lvl3pPr>
      <a:lvl4pPr algn="ctr" defTabSz="3497263" rtl="0" eaLnBrk="0" fontAlgn="base" hangingPunct="0">
        <a:spcBef>
          <a:spcPct val="0"/>
        </a:spcBef>
        <a:spcAft>
          <a:spcPct val="0"/>
        </a:spcAft>
        <a:defRPr sz="16800">
          <a:solidFill>
            <a:schemeClr val="tx2"/>
          </a:solidFill>
          <a:latin typeface="Arial" charset="0"/>
        </a:defRPr>
      </a:lvl4pPr>
      <a:lvl5pPr algn="ctr" defTabSz="3497263" rtl="0" eaLnBrk="0" fontAlgn="base" hangingPunct="0">
        <a:spcBef>
          <a:spcPct val="0"/>
        </a:spcBef>
        <a:spcAft>
          <a:spcPct val="0"/>
        </a:spcAft>
        <a:defRPr sz="16800">
          <a:solidFill>
            <a:schemeClr val="tx2"/>
          </a:solidFill>
          <a:latin typeface="Arial" charset="0"/>
        </a:defRPr>
      </a:lvl5pPr>
      <a:lvl6pPr marL="457200" algn="ctr" defTabSz="3497263" rtl="0" fontAlgn="base">
        <a:spcBef>
          <a:spcPct val="0"/>
        </a:spcBef>
        <a:spcAft>
          <a:spcPct val="0"/>
        </a:spcAft>
        <a:defRPr sz="16800">
          <a:solidFill>
            <a:schemeClr val="tx2"/>
          </a:solidFill>
          <a:latin typeface="Arial" charset="0"/>
        </a:defRPr>
      </a:lvl6pPr>
      <a:lvl7pPr marL="914400" algn="ctr" defTabSz="3497263" rtl="0" fontAlgn="base">
        <a:spcBef>
          <a:spcPct val="0"/>
        </a:spcBef>
        <a:spcAft>
          <a:spcPct val="0"/>
        </a:spcAft>
        <a:defRPr sz="16800">
          <a:solidFill>
            <a:schemeClr val="tx2"/>
          </a:solidFill>
          <a:latin typeface="Arial" charset="0"/>
        </a:defRPr>
      </a:lvl7pPr>
      <a:lvl8pPr marL="1371600" algn="ctr" defTabSz="3497263" rtl="0" fontAlgn="base">
        <a:spcBef>
          <a:spcPct val="0"/>
        </a:spcBef>
        <a:spcAft>
          <a:spcPct val="0"/>
        </a:spcAft>
        <a:defRPr sz="16800">
          <a:solidFill>
            <a:schemeClr val="tx2"/>
          </a:solidFill>
          <a:latin typeface="Arial" charset="0"/>
        </a:defRPr>
      </a:lvl8pPr>
      <a:lvl9pPr marL="1828800" algn="ctr" defTabSz="3497263" rtl="0" fontAlgn="base">
        <a:spcBef>
          <a:spcPct val="0"/>
        </a:spcBef>
        <a:spcAft>
          <a:spcPct val="0"/>
        </a:spcAft>
        <a:defRPr sz="16800">
          <a:solidFill>
            <a:schemeClr val="tx2"/>
          </a:solidFill>
          <a:latin typeface="Arial" charset="0"/>
        </a:defRPr>
      </a:lvl9pPr>
    </p:titleStyle>
    <p:bodyStyle>
      <a:lvl1pPr marL="1311275" indent="-1311275" algn="l" defTabSz="3497263" rtl="0" eaLnBrk="0" fontAlgn="base" hangingPunct="0">
        <a:spcBef>
          <a:spcPct val="20000"/>
        </a:spcBef>
        <a:spcAft>
          <a:spcPct val="0"/>
        </a:spcAft>
        <a:buChar char="•"/>
        <a:defRPr sz="12300">
          <a:solidFill>
            <a:schemeClr val="tx1"/>
          </a:solidFill>
          <a:latin typeface="+mn-lt"/>
          <a:ea typeface="+mn-ea"/>
          <a:cs typeface="+mn-cs"/>
        </a:defRPr>
      </a:lvl1pPr>
      <a:lvl2pPr marL="2840038" indent="-1092200" algn="l" defTabSz="3497263" rtl="0" eaLnBrk="0" fontAlgn="base" hangingPunct="0">
        <a:spcBef>
          <a:spcPct val="20000"/>
        </a:spcBef>
        <a:spcAft>
          <a:spcPct val="0"/>
        </a:spcAft>
        <a:buChar char="–"/>
        <a:defRPr sz="10700">
          <a:solidFill>
            <a:schemeClr val="tx1"/>
          </a:solidFill>
          <a:latin typeface="+mn-lt"/>
        </a:defRPr>
      </a:lvl2pPr>
      <a:lvl3pPr marL="4370388" indent="-873125" algn="l" defTabSz="3497263" rtl="0" eaLnBrk="0" fontAlgn="base" hangingPunct="0">
        <a:spcBef>
          <a:spcPct val="20000"/>
        </a:spcBef>
        <a:spcAft>
          <a:spcPct val="0"/>
        </a:spcAft>
        <a:buChar char="•"/>
        <a:defRPr sz="9200">
          <a:solidFill>
            <a:schemeClr val="tx1"/>
          </a:solidFill>
          <a:latin typeface="+mn-lt"/>
        </a:defRPr>
      </a:lvl3pPr>
      <a:lvl4pPr marL="6118225" indent="-873125" algn="l" defTabSz="3497263" rtl="0" eaLnBrk="0" fontAlgn="base" hangingPunct="0">
        <a:spcBef>
          <a:spcPct val="20000"/>
        </a:spcBef>
        <a:spcAft>
          <a:spcPct val="0"/>
        </a:spcAft>
        <a:buChar char="–"/>
        <a:defRPr sz="7600">
          <a:solidFill>
            <a:schemeClr val="tx1"/>
          </a:solidFill>
          <a:latin typeface="+mn-lt"/>
        </a:defRPr>
      </a:lvl4pPr>
      <a:lvl5pPr marL="7867650" indent="-873125" algn="l" defTabSz="3497263" rtl="0" eaLnBrk="0" fontAlgn="base" hangingPunct="0">
        <a:spcBef>
          <a:spcPct val="20000"/>
        </a:spcBef>
        <a:spcAft>
          <a:spcPct val="0"/>
        </a:spcAft>
        <a:buChar char="»"/>
        <a:defRPr sz="7600">
          <a:solidFill>
            <a:schemeClr val="tx1"/>
          </a:solidFill>
          <a:latin typeface="+mn-lt"/>
        </a:defRPr>
      </a:lvl5pPr>
      <a:lvl6pPr marL="8324850" indent="-873125" algn="l" defTabSz="3497263" rtl="0" fontAlgn="base">
        <a:spcBef>
          <a:spcPct val="20000"/>
        </a:spcBef>
        <a:spcAft>
          <a:spcPct val="0"/>
        </a:spcAft>
        <a:buChar char="»"/>
        <a:defRPr sz="7600">
          <a:solidFill>
            <a:schemeClr val="tx1"/>
          </a:solidFill>
          <a:latin typeface="+mn-lt"/>
        </a:defRPr>
      </a:lvl6pPr>
      <a:lvl7pPr marL="8782050" indent="-873125" algn="l" defTabSz="3497263" rtl="0" fontAlgn="base">
        <a:spcBef>
          <a:spcPct val="20000"/>
        </a:spcBef>
        <a:spcAft>
          <a:spcPct val="0"/>
        </a:spcAft>
        <a:buChar char="»"/>
        <a:defRPr sz="7600">
          <a:solidFill>
            <a:schemeClr val="tx1"/>
          </a:solidFill>
          <a:latin typeface="+mn-lt"/>
        </a:defRPr>
      </a:lvl7pPr>
      <a:lvl8pPr marL="9239250" indent="-873125" algn="l" defTabSz="3497263" rtl="0" fontAlgn="base">
        <a:spcBef>
          <a:spcPct val="20000"/>
        </a:spcBef>
        <a:spcAft>
          <a:spcPct val="0"/>
        </a:spcAft>
        <a:buChar char="»"/>
        <a:defRPr sz="7600">
          <a:solidFill>
            <a:schemeClr val="tx1"/>
          </a:solidFill>
          <a:latin typeface="+mn-lt"/>
        </a:defRPr>
      </a:lvl8pPr>
      <a:lvl9pPr marL="9696450" indent="-873125" algn="l" defTabSz="3497263" rtl="0" fontAlgn="base">
        <a:spcBef>
          <a:spcPct val="20000"/>
        </a:spcBef>
        <a:spcAft>
          <a:spcPct val="0"/>
        </a:spcAft>
        <a:buChar char="»"/>
        <a:defRPr sz="7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chemeClr val="bg1"/>
            </a:gs>
            <a:gs pos="100000">
              <a:srgbClr val="003064"/>
            </a:gs>
          </a:gsLst>
          <a:lin ang="5400000" scaled="1"/>
        </a:gradFill>
        <a:effectLst/>
      </p:bgPr>
    </p:bg>
    <p:spTree>
      <p:nvGrpSpPr>
        <p:cNvPr id="1" name=""/>
        <p:cNvGrpSpPr/>
        <p:nvPr/>
      </p:nvGrpSpPr>
      <p:grpSpPr>
        <a:xfrm>
          <a:off x="0" y="0"/>
          <a:ext cx="0" cy="0"/>
          <a:chOff x="0" y="0"/>
          <a:chExt cx="0" cy="0"/>
        </a:xfrm>
      </p:grpSpPr>
      <p:sp>
        <p:nvSpPr>
          <p:cNvPr id="2050" name="AutoShape 50"/>
          <p:cNvSpPr>
            <a:spLocks noChangeArrowheads="1"/>
          </p:cNvSpPr>
          <p:nvPr/>
        </p:nvSpPr>
        <p:spPr bwMode="auto">
          <a:xfrm>
            <a:off x="12923736" y="6721752"/>
            <a:ext cx="11857038" cy="28939847"/>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dirty="0"/>
          </a:p>
        </p:txBody>
      </p:sp>
      <p:sp>
        <p:nvSpPr>
          <p:cNvPr id="2051" name="AutoShape 4"/>
          <p:cNvSpPr>
            <a:spLocks noChangeArrowheads="1"/>
          </p:cNvSpPr>
          <p:nvPr/>
        </p:nvSpPr>
        <p:spPr bwMode="auto">
          <a:xfrm>
            <a:off x="495300" y="6721753"/>
            <a:ext cx="11857038" cy="28939846"/>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a:p>
        </p:txBody>
      </p:sp>
      <p:sp>
        <p:nvSpPr>
          <p:cNvPr id="2052" name="Text Box 9"/>
          <p:cNvSpPr txBox="1">
            <a:spLocks noChangeArrowheads="1"/>
          </p:cNvSpPr>
          <p:nvPr/>
        </p:nvSpPr>
        <p:spPr bwMode="auto">
          <a:xfrm>
            <a:off x="649288" y="8789987"/>
            <a:ext cx="11434762" cy="5613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rapid growth of social media platforms has resulted in an enormous amount of user-generated textual data, offering valuable insights into public emotions and opinions. However, sentiment analysis for the Arabic language remains underdeveloped due to its complex linguistics and diverse dialects.</a:t>
            </a:r>
          </a:p>
          <a:p>
            <a:pPr marL="0" marR="0" lvl="0" indent="0" algn="just" defTabSz="914400" rtl="0" eaLnBrk="0" fontAlgn="base" latinLnBrk="0" hangingPunct="0">
              <a:lnSpc>
                <a:spcPct val="100000"/>
              </a:lnSpc>
              <a:spcBef>
                <a:spcPct val="0"/>
              </a:spcBef>
              <a:spcAft>
                <a:spcPct val="0"/>
              </a:spcAft>
              <a:buClrTx/>
              <a:buSzTx/>
              <a:buFontTx/>
              <a:buNone/>
              <a:tabLst/>
            </a:pPr>
            <a:endParaRPr lang="en-GB" altLang="en-US" sz="2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study aims to bridge this gap by presenting a novel approach to Arabic sentiment analysis through an ensemble deep learning model. By leveraging Bidirectional Long Short-Term Memory (Bi-LSTM), Bidirectional Gated Recurrent Unit (Bi-GRU), and the MARBERTv2 transformer model combined with Random Forest stacking, our research achieves significant improvements in emotion detection accuracy.</a:t>
            </a:r>
          </a:p>
          <a:p>
            <a:pPr marL="0" marR="0" lvl="0" indent="0" algn="just" defTabSz="914400" rtl="0" eaLnBrk="0" fontAlgn="base" latinLnBrk="0" hangingPunct="0">
              <a:lnSpc>
                <a:spcPct val="100000"/>
              </a:lnSpc>
              <a:spcBef>
                <a:spcPct val="0"/>
              </a:spcBef>
              <a:spcAft>
                <a:spcPct val="0"/>
              </a:spcAft>
              <a:buClrTx/>
              <a:buSzTx/>
              <a:buFontTx/>
              <a:buNone/>
              <a:tabLst/>
            </a:pPr>
            <a:endParaRPr lang="en-GB" altLang="en-US" sz="2400"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novel ensemble approach, tested on the Emotone_ar dataset, not only enhances the accuracy and reliability of sentiment analysis in Arabic texts but also provides a practical tool for real-time emotion detection in social media, addressing a critical need in natural language processing for the Arabic language.</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053" name="Text Box 10"/>
          <p:cNvSpPr txBox="1">
            <a:spLocks noChangeArrowheads="1"/>
          </p:cNvSpPr>
          <p:nvPr/>
        </p:nvSpPr>
        <p:spPr bwMode="auto">
          <a:xfrm>
            <a:off x="3124994" y="14399244"/>
            <a:ext cx="5645150"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latin typeface="Times New Roman" panose="02020603050405020304" pitchFamily="18" charset="0"/>
                <a:cs typeface="Times New Roman" panose="02020603050405020304" pitchFamily="18" charset="0"/>
              </a:rPr>
              <a:t>Methods</a:t>
            </a:r>
          </a:p>
        </p:txBody>
      </p:sp>
      <p:sp>
        <p:nvSpPr>
          <p:cNvPr id="2054" name="Text Box 11"/>
          <p:cNvSpPr txBox="1">
            <a:spLocks noChangeArrowheads="1"/>
          </p:cNvSpPr>
          <p:nvPr/>
        </p:nvSpPr>
        <p:spPr bwMode="auto">
          <a:xfrm>
            <a:off x="15968652" y="22815102"/>
            <a:ext cx="5645150"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latin typeface="Times New Roman" panose="02020603050405020304" pitchFamily="18" charset="0"/>
                <a:cs typeface="Times New Roman" panose="02020603050405020304" pitchFamily="18" charset="0"/>
              </a:rPr>
              <a:t>Conclusions</a:t>
            </a:r>
          </a:p>
        </p:txBody>
      </p:sp>
      <p:sp>
        <p:nvSpPr>
          <p:cNvPr id="2055" name="AutoShape 13"/>
          <p:cNvSpPr>
            <a:spLocks noChangeArrowheads="1"/>
          </p:cNvSpPr>
          <p:nvPr/>
        </p:nvSpPr>
        <p:spPr bwMode="auto">
          <a:xfrm>
            <a:off x="393700" y="830262"/>
            <a:ext cx="24414163" cy="5749925"/>
          </a:xfrm>
          <a:prstGeom prst="roundRect">
            <a:avLst>
              <a:gd name="adj" fmla="val 10870"/>
            </a:avLst>
          </a:prstGeom>
          <a:gradFill rotWithShape="1">
            <a:gsLst>
              <a:gs pos="0">
                <a:srgbClr val="A7C4FF"/>
              </a:gs>
              <a:gs pos="100000">
                <a:schemeClr val="bg1"/>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850" tIns="36425" rIns="72850" bIns="36425" anchor="ct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endParaRPr lang="en-US" altLang="en-US">
              <a:solidFill>
                <a:schemeClr val="bg1"/>
              </a:solidFill>
            </a:endParaRPr>
          </a:p>
        </p:txBody>
      </p:sp>
      <p:sp>
        <p:nvSpPr>
          <p:cNvPr id="2056" name="Text Box 14"/>
          <p:cNvSpPr txBox="1">
            <a:spLocks noChangeArrowheads="1"/>
          </p:cNvSpPr>
          <p:nvPr/>
        </p:nvSpPr>
        <p:spPr bwMode="auto">
          <a:xfrm>
            <a:off x="831850" y="1458913"/>
            <a:ext cx="23495000" cy="4905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sz="10000" b="1" dirty="0">
                <a:latin typeface="Times New Roman" panose="02020603050405020304" pitchFamily="18" charset="0"/>
                <a:cs typeface="Times New Roman" panose="02020603050405020304" pitchFamily="18" charset="0"/>
              </a:rPr>
              <a:t>Arabic Sentiment Analysis</a:t>
            </a:r>
          </a:p>
          <a:p>
            <a:pPr eaLnBrk="1" hangingPunct="1"/>
            <a:r>
              <a:rPr lang="en-US" altLang="en-US" sz="4400" b="1" dirty="0">
                <a:latin typeface="Times New Roman" panose="02020603050405020304" pitchFamily="18" charset="0"/>
                <a:cs typeface="Times New Roman" panose="02020603050405020304" pitchFamily="18" charset="0"/>
              </a:rPr>
              <a:t>By: Ali Abdallah Mohamed, Mohamed Ali Abdelaziz,</a:t>
            </a:r>
            <a:br>
              <a:rPr lang="en-US" altLang="en-US" sz="4400" b="1" dirty="0">
                <a:latin typeface="Times New Roman" panose="02020603050405020304" pitchFamily="18" charset="0"/>
                <a:cs typeface="Times New Roman" panose="02020603050405020304" pitchFamily="18" charset="0"/>
              </a:rPr>
            </a:br>
            <a:r>
              <a:rPr lang="en-US" altLang="en-US" sz="4400" b="1" dirty="0">
                <a:latin typeface="Times New Roman" panose="02020603050405020304" pitchFamily="18" charset="0"/>
                <a:cs typeface="Times New Roman" panose="02020603050405020304" pitchFamily="18" charset="0"/>
              </a:rPr>
              <a:t>Karima Sobhi Abo Al-ala, Ali Maher Talaat, Hany Mohamed Ali,</a:t>
            </a:r>
          </a:p>
          <a:p>
            <a:pPr eaLnBrk="1" hangingPunct="1"/>
            <a:r>
              <a:rPr lang="en-US" altLang="en-US" sz="4400" b="1" dirty="0">
                <a:latin typeface="Times New Roman" panose="02020603050405020304" pitchFamily="18" charset="0"/>
                <a:cs typeface="Times New Roman" panose="02020603050405020304" pitchFamily="18" charset="0"/>
              </a:rPr>
              <a:t>Abdelrahman Abdelhalim El-Aref</a:t>
            </a:r>
          </a:p>
          <a:p>
            <a:pPr eaLnBrk="1" hangingPunct="1"/>
            <a:r>
              <a:rPr lang="en-US" altLang="en-US" sz="4200" b="1" dirty="0">
                <a:latin typeface="Times New Roman" panose="02020603050405020304" pitchFamily="18" charset="0"/>
                <a:cs typeface="Times New Roman" panose="02020603050405020304" pitchFamily="18" charset="0"/>
              </a:rPr>
              <a:t>Supervised by: Lecturer. Dr. Shaimaa Haridy , TA. Radwa Mostafa</a:t>
            </a:r>
          </a:p>
          <a:p>
            <a:pPr eaLnBrk="1" hangingPunct="1"/>
            <a:r>
              <a:rPr lang="en-US" altLang="en-US" sz="4000" b="1" i="1" dirty="0">
                <a:latin typeface="Times New Roman" panose="02020603050405020304" pitchFamily="18" charset="0"/>
                <a:cs typeface="Times New Roman" panose="02020603050405020304" pitchFamily="18" charset="0"/>
              </a:rPr>
              <a:t>Faculty of Computer and Information Sciences - Ain Shams University</a:t>
            </a:r>
            <a:endParaRPr lang="en-US" altLang="en-US" sz="7200" dirty="0">
              <a:latin typeface="Times New Roman" panose="02020603050405020304" pitchFamily="18" charset="0"/>
              <a:cs typeface="Times New Roman" panose="02020603050405020304" pitchFamily="18" charset="0"/>
            </a:endParaRPr>
          </a:p>
        </p:txBody>
      </p:sp>
      <p:sp>
        <p:nvSpPr>
          <p:cNvPr id="2058" name="Text Box 27"/>
          <p:cNvSpPr txBox="1">
            <a:spLocks noChangeArrowheads="1"/>
          </p:cNvSpPr>
          <p:nvPr/>
        </p:nvSpPr>
        <p:spPr bwMode="auto">
          <a:xfrm>
            <a:off x="16387048" y="29725724"/>
            <a:ext cx="5291584"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latin typeface="Times New Roman" panose="02020603050405020304" pitchFamily="18" charset="0"/>
                <a:cs typeface="Times New Roman" panose="02020603050405020304" pitchFamily="18" charset="0"/>
              </a:rPr>
              <a:t>Bibliography</a:t>
            </a:r>
          </a:p>
        </p:txBody>
      </p:sp>
      <p:sp>
        <p:nvSpPr>
          <p:cNvPr id="2059" name="Text Box 36"/>
          <p:cNvSpPr txBox="1">
            <a:spLocks noChangeArrowheads="1"/>
          </p:cNvSpPr>
          <p:nvPr/>
        </p:nvSpPr>
        <p:spPr bwMode="auto">
          <a:xfrm>
            <a:off x="831850" y="15523194"/>
            <a:ext cx="11010900" cy="1395455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just">
              <a:lnSpc>
                <a:spcPct val="95000"/>
              </a:lnSpc>
            </a:pPr>
            <a:r>
              <a:rPr lang="en-GB" sz="2400" dirty="0">
                <a:latin typeface="Times New Roman" panose="02020603050405020304" pitchFamily="18" charset="0"/>
                <a:cs typeface="Times New Roman" panose="02020603050405020304" pitchFamily="18" charset="0"/>
              </a:rPr>
              <a:t>1- </a:t>
            </a:r>
            <a:r>
              <a:rPr lang="en-GB" sz="2400" b="1" dirty="0">
                <a:latin typeface="Times New Roman" panose="02020603050405020304" pitchFamily="18" charset="0"/>
                <a:cs typeface="Times New Roman" panose="02020603050405020304" pitchFamily="18" charset="0"/>
              </a:rPr>
              <a:t>Dataset Description:</a:t>
            </a:r>
          </a:p>
          <a:p>
            <a:pPr algn="just">
              <a:lnSpc>
                <a:spcPct val="95000"/>
              </a:lnSpc>
            </a:pPr>
            <a:r>
              <a:rPr lang="en-GB" sz="2400" dirty="0">
                <a:latin typeface="Times New Roman" panose="02020603050405020304" pitchFamily="18" charset="0"/>
                <a:cs typeface="Times New Roman" panose="02020603050405020304" pitchFamily="18" charset="0"/>
              </a:rPr>
              <a:t>We worked on 'Emotone_ar' dataset which consists of 10,065 Arabic tweets annotated with eight emotions, created by Nile University researchers in Egypt. It features a balanced representation of emotions and covers various Arabic dialects, making it ideal for training and evaluation.</a:t>
            </a:r>
          </a:p>
          <a:p>
            <a:pPr algn="just">
              <a:lnSpc>
                <a:spcPct val="95000"/>
              </a:lnSpc>
            </a:pPr>
            <a:r>
              <a:rPr lang="en-GB" sz="2400" b="1" dirty="0">
                <a:latin typeface="Times New Roman" panose="02020603050405020304" pitchFamily="18" charset="0"/>
                <a:cs typeface="Times New Roman" panose="02020603050405020304" pitchFamily="18" charset="0"/>
              </a:rPr>
              <a:t>2- System Architecture</a:t>
            </a:r>
          </a:p>
          <a:p>
            <a:pPr lvl="1" algn="just">
              <a:lnSpc>
                <a:spcPct val="95000"/>
              </a:lnSpc>
            </a:pPr>
            <a:r>
              <a:rPr lang="en-GB" sz="2400" b="1" dirty="0">
                <a:latin typeface="Times New Roman" panose="02020603050405020304" pitchFamily="18" charset="0"/>
                <a:cs typeface="Times New Roman" panose="02020603050405020304" pitchFamily="18" charset="0"/>
              </a:rPr>
              <a:t>2.1 presentation layer</a:t>
            </a:r>
          </a:p>
          <a:p>
            <a:pPr lvl="2"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User Interaction</a:t>
            </a:r>
            <a:r>
              <a:rPr lang="en-GB" sz="2400" dirty="0">
                <a:latin typeface="Times New Roman" panose="02020603050405020304" pitchFamily="18" charset="0"/>
                <a:cs typeface="Times New Roman" panose="02020603050405020304" pitchFamily="18" charset="0"/>
              </a:rPr>
              <a:t>: Web application interface.</a:t>
            </a:r>
          </a:p>
          <a:p>
            <a:pPr lvl="2"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Login</a:t>
            </a:r>
            <a:r>
              <a:rPr lang="en-GB" sz="2400" dirty="0">
                <a:latin typeface="Times New Roman" panose="02020603050405020304" pitchFamily="18" charset="0"/>
                <a:cs typeface="Times New Roman" panose="02020603050405020304" pitchFamily="18" charset="0"/>
              </a:rPr>
              <a:t>: Users log in to access features.</a:t>
            </a:r>
          </a:p>
          <a:p>
            <a:pPr lvl="2"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Data Input</a:t>
            </a:r>
            <a:r>
              <a:rPr lang="en-GB" sz="2400" dirty="0">
                <a:latin typeface="Times New Roman" panose="02020603050405020304" pitchFamily="18" charset="0"/>
                <a:cs typeface="Times New Roman" panose="02020603050405020304" pitchFamily="18" charset="0"/>
              </a:rPr>
              <a:t>: Upload CSV files or input keywords to classify emotions.</a:t>
            </a:r>
          </a:p>
          <a:p>
            <a:pPr lvl="2" algn="just">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Display</a:t>
            </a:r>
            <a:r>
              <a:rPr lang="en-GB" sz="2400" dirty="0">
                <a:latin typeface="Times New Roman" panose="02020603050405020304" pitchFamily="18" charset="0"/>
                <a:cs typeface="Times New Roman" panose="02020603050405020304" pitchFamily="18" charset="0"/>
              </a:rPr>
              <a:t>: Results displayed on an interactive dashboard with charts, graphs, and tables.</a:t>
            </a:r>
          </a:p>
          <a:p>
            <a:pPr lvl="1" algn="just"/>
            <a:r>
              <a:rPr lang="en-GB" sz="2400" b="1" dirty="0">
                <a:latin typeface="Times New Roman" panose="02020603050405020304" pitchFamily="18" charset="0"/>
                <a:cs typeface="Times New Roman" panose="02020603050405020304" pitchFamily="18" charset="0"/>
              </a:rPr>
              <a:t>2.2. Business Logic Layer</a:t>
            </a:r>
          </a:p>
          <a:p>
            <a:pPr lvl="2"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Data Preparation and Cleaning:</a:t>
            </a:r>
          </a:p>
          <a:p>
            <a:pPr marL="1657350" lvl="3" indent="-342900" algn="just">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Remove emails, URLs, mentions, punctuations, diacritics, repeating characters, newlines, stop words, English characters and digits. </a:t>
            </a:r>
          </a:p>
          <a:p>
            <a:pPr marL="1657350" lvl="3" indent="-342900" algn="just">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Normalize words.</a:t>
            </a:r>
          </a:p>
          <a:p>
            <a:pPr marL="1657350" lvl="3" indent="-342900" algn="just">
              <a:buFont typeface="Courier New" panose="02070309020205020404" pitchFamily="49" charset="0"/>
              <a:buChar char="o"/>
            </a:pPr>
            <a:r>
              <a:rPr lang="en-GB" sz="2400" dirty="0">
                <a:latin typeface="Times New Roman" panose="02020603050405020304" pitchFamily="18" charset="0"/>
                <a:cs typeface="Times New Roman" panose="02020603050405020304" pitchFamily="18" charset="0"/>
              </a:rPr>
              <a:t>Replace emojis and hashtags to words.</a:t>
            </a:r>
          </a:p>
          <a:p>
            <a:pPr lvl="2"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Word Embedding: Uses AraVec to convert raw text into numerical vectors.</a:t>
            </a:r>
          </a:p>
          <a:p>
            <a:pPr lvl="2"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Model Training: Trains MARBERTv2, Bi-GRU, and Bi-LSTM models.</a:t>
            </a:r>
          </a:p>
          <a:p>
            <a:pPr lvl="2"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Model Testing: Evaluates model performance.</a:t>
            </a:r>
          </a:p>
          <a:p>
            <a:pPr lvl="2"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Base Models Inference: Generates SoftMax arrays from trained models.</a:t>
            </a:r>
          </a:p>
          <a:p>
            <a:pPr lvl="2"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Stacking: Combines model outputs to create a feature set for the Random Forest (RF) ensemble model.</a:t>
            </a:r>
          </a:p>
          <a:p>
            <a:pPr lvl="2" algn="just">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Random Forest Ensemble Model: Trains and evaluates the ensemble model for real-time emotion classification.</a:t>
            </a:r>
          </a:p>
          <a:p>
            <a:pPr marL="514350" lvl="1" indent="0" algn="just"/>
            <a:r>
              <a:rPr lang="en-GB" sz="2400" b="1" dirty="0">
                <a:latin typeface="Times New Roman" panose="02020603050405020304" pitchFamily="18" charset="0"/>
                <a:cs typeface="Times New Roman" panose="02020603050405020304" pitchFamily="18" charset="0"/>
              </a:rPr>
              <a:t>2.3. Data Layer Dataset Management:</a:t>
            </a:r>
          </a:p>
          <a:p>
            <a:pPr marL="914400" lvl="2" indent="0" algn="just"/>
            <a:r>
              <a:rPr lang="en-GB" sz="2400" dirty="0">
                <a:latin typeface="Times New Roman" panose="02020603050405020304" pitchFamily="18" charset="0"/>
                <a:cs typeface="Times New Roman" panose="02020603050405020304" pitchFamily="18" charset="0"/>
              </a:rPr>
              <a:t> Contains raw data, which is cleaned and split into training (80%), validation (10%), and testing (10%) sets.</a:t>
            </a:r>
          </a:p>
          <a:p>
            <a:pPr algn="just"/>
            <a:r>
              <a:rPr lang="en-GB" sz="2400" b="1" dirty="0">
                <a:latin typeface="Times New Roman" panose="02020603050405020304" pitchFamily="18" charset="0"/>
                <a:cs typeface="Times New Roman" panose="02020603050405020304" pitchFamily="18" charset="0"/>
              </a:rPr>
              <a:t>3. Workflow</a:t>
            </a:r>
          </a:p>
          <a:p>
            <a:pPr lvl="1" algn="just">
              <a:buFont typeface="+mj-lt"/>
              <a:buAutoNum type="arabicPeriod"/>
            </a:pPr>
            <a:r>
              <a:rPr lang="en-GB" sz="2400" b="1" dirty="0">
                <a:latin typeface="Times New Roman" panose="02020603050405020304" pitchFamily="18" charset="0"/>
                <a:cs typeface="Times New Roman" panose="02020603050405020304" pitchFamily="18" charset="0"/>
              </a:rPr>
              <a:t>Data Input:</a:t>
            </a:r>
            <a:r>
              <a:rPr lang="en-GB" sz="2400" dirty="0">
                <a:latin typeface="Times New Roman" panose="02020603050405020304" pitchFamily="18" charset="0"/>
                <a:cs typeface="Times New Roman" panose="02020603050405020304" pitchFamily="18" charset="0"/>
              </a:rPr>
              <a:t> Users log in and provide data (CSV files or keywords).</a:t>
            </a:r>
          </a:p>
          <a:p>
            <a:pPr lvl="1" algn="just">
              <a:buFont typeface="+mj-lt"/>
              <a:buAutoNum type="arabicPeriod"/>
            </a:pPr>
            <a:r>
              <a:rPr lang="en-GB" sz="2400" b="1" dirty="0">
                <a:latin typeface="Times New Roman" panose="02020603050405020304" pitchFamily="18" charset="0"/>
                <a:cs typeface="Times New Roman" panose="02020603050405020304" pitchFamily="18" charset="0"/>
              </a:rPr>
              <a:t>Data Preparation:</a:t>
            </a:r>
            <a:r>
              <a:rPr lang="en-GB" sz="2400" dirty="0">
                <a:latin typeface="Times New Roman" panose="02020603050405020304" pitchFamily="18" charset="0"/>
                <a:cs typeface="Times New Roman" panose="02020603050405020304" pitchFamily="18" charset="0"/>
              </a:rPr>
              <a:t> Data undergoes preprocessing and cleaning.</a:t>
            </a:r>
          </a:p>
          <a:p>
            <a:pPr lvl="1" algn="just">
              <a:buFont typeface="+mj-lt"/>
              <a:buAutoNum type="arabicPeriod"/>
            </a:pPr>
            <a:r>
              <a:rPr lang="en-GB" sz="2400" b="1" dirty="0">
                <a:latin typeface="Times New Roman" panose="02020603050405020304" pitchFamily="18" charset="0"/>
                <a:cs typeface="Times New Roman" panose="02020603050405020304" pitchFamily="18" charset="0"/>
              </a:rPr>
              <a:t>Model Training and Testing:</a:t>
            </a:r>
            <a:r>
              <a:rPr lang="en-GB" sz="2400" dirty="0">
                <a:latin typeface="Times New Roman" panose="02020603050405020304" pitchFamily="18" charset="0"/>
                <a:cs typeface="Times New Roman" panose="02020603050405020304" pitchFamily="18" charset="0"/>
              </a:rPr>
              <a:t> MARBERTv2, Bi-GRU, and Bi-LSTM models are trained and tested.</a:t>
            </a:r>
          </a:p>
          <a:p>
            <a:pPr lvl="1" algn="just">
              <a:buFont typeface="+mj-lt"/>
              <a:buAutoNum type="arabicPeriod"/>
            </a:pPr>
            <a:r>
              <a:rPr lang="en-GB" sz="2400" b="1" dirty="0">
                <a:latin typeface="Times New Roman" panose="02020603050405020304" pitchFamily="18" charset="0"/>
                <a:cs typeface="Times New Roman" panose="02020603050405020304" pitchFamily="18" charset="0"/>
              </a:rPr>
              <a:t>Model Inference and Stacking:</a:t>
            </a:r>
            <a:r>
              <a:rPr lang="en-GB" sz="2400" dirty="0">
                <a:latin typeface="Times New Roman" panose="02020603050405020304" pitchFamily="18" charset="0"/>
                <a:cs typeface="Times New Roman" panose="02020603050405020304" pitchFamily="18" charset="0"/>
              </a:rPr>
              <a:t> Outputs from individual models are stacked.</a:t>
            </a:r>
          </a:p>
          <a:p>
            <a:pPr lvl="1" algn="just">
              <a:buFont typeface="+mj-lt"/>
              <a:buAutoNum type="arabicPeriod"/>
            </a:pPr>
            <a:r>
              <a:rPr lang="en-GB" sz="2400" b="1" dirty="0">
                <a:latin typeface="Times New Roman" panose="02020603050405020304" pitchFamily="18" charset="0"/>
                <a:cs typeface="Times New Roman" panose="02020603050405020304" pitchFamily="18" charset="0"/>
              </a:rPr>
              <a:t>Ensemble Model:</a:t>
            </a:r>
            <a:r>
              <a:rPr lang="en-GB" sz="2400" dirty="0">
                <a:latin typeface="Times New Roman" panose="02020603050405020304" pitchFamily="18" charset="0"/>
                <a:cs typeface="Times New Roman" panose="02020603050405020304" pitchFamily="18" charset="0"/>
              </a:rPr>
              <a:t> The Random Forest model classifies emotions and returns results to the user.</a:t>
            </a:r>
          </a:p>
          <a:p>
            <a:pPr indent="-228600" algn="just"/>
            <a:r>
              <a:rPr lang="en-GB" sz="2400" dirty="0">
                <a:latin typeface="Times New Roman" panose="02020603050405020304" pitchFamily="18" charset="0"/>
                <a:cs typeface="Times New Roman" panose="02020603050405020304" pitchFamily="18" charset="0"/>
              </a:rPr>
              <a:t>Below is a diagram representing the proposed system:</a:t>
            </a:r>
          </a:p>
        </p:txBody>
      </p:sp>
      <p:sp>
        <p:nvSpPr>
          <p:cNvPr id="2060" name="Text Box 38"/>
          <p:cNvSpPr txBox="1">
            <a:spLocks noChangeArrowheads="1"/>
          </p:cNvSpPr>
          <p:nvPr/>
        </p:nvSpPr>
        <p:spPr bwMode="auto">
          <a:xfrm>
            <a:off x="13546037" y="31131561"/>
            <a:ext cx="10612437" cy="425959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a:spAutoFit/>
          </a:bodyPr>
          <a:lstStyle>
            <a:lvl1pPr marL="273050" indent="-273050" defTabSz="488950" eaLnBrk="0" hangingPunct="0">
              <a:defRPr sz="6900">
                <a:solidFill>
                  <a:schemeClr val="tx1"/>
                </a:solidFill>
                <a:latin typeface="Arial" charset="0"/>
              </a:defRPr>
            </a:lvl1pPr>
            <a:lvl2pPr marL="517525" indent="-273050" defTabSz="488950" eaLnBrk="0" hangingPunct="0">
              <a:defRPr sz="6900">
                <a:solidFill>
                  <a:schemeClr val="tx1"/>
                </a:solidFill>
                <a:latin typeface="Arial" charset="0"/>
              </a:defRPr>
            </a:lvl2pPr>
            <a:lvl3pPr marL="762000" indent="-273050" defTabSz="488950" eaLnBrk="0" hangingPunct="0">
              <a:defRPr sz="6900">
                <a:solidFill>
                  <a:schemeClr val="tx1"/>
                </a:solidFill>
                <a:latin typeface="Arial" charset="0"/>
              </a:defRPr>
            </a:lvl3pPr>
            <a:lvl4pPr marL="1003300" indent="-273050" defTabSz="488950" eaLnBrk="0" hangingPunct="0">
              <a:defRPr sz="6900">
                <a:solidFill>
                  <a:schemeClr val="tx1"/>
                </a:solidFill>
                <a:latin typeface="Arial" charset="0"/>
              </a:defRPr>
            </a:lvl4pPr>
            <a:lvl5pPr marL="1247775" indent="-274638" defTabSz="488950" eaLnBrk="0" hangingPunct="0">
              <a:defRPr sz="6900">
                <a:solidFill>
                  <a:schemeClr val="tx1"/>
                </a:solidFill>
                <a:latin typeface="Arial" charset="0"/>
              </a:defRPr>
            </a:lvl5pPr>
            <a:lvl6pPr marL="1704975" indent="-274638" algn="ctr" defTabSz="488950" eaLnBrk="0" fontAlgn="base" hangingPunct="0">
              <a:spcBef>
                <a:spcPct val="0"/>
              </a:spcBef>
              <a:spcAft>
                <a:spcPct val="0"/>
              </a:spcAft>
              <a:defRPr sz="6900">
                <a:solidFill>
                  <a:schemeClr val="tx1"/>
                </a:solidFill>
                <a:latin typeface="Arial" charset="0"/>
              </a:defRPr>
            </a:lvl6pPr>
            <a:lvl7pPr marL="2162175" indent="-274638" algn="ctr" defTabSz="488950" eaLnBrk="0" fontAlgn="base" hangingPunct="0">
              <a:spcBef>
                <a:spcPct val="0"/>
              </a:spcBef>
              <a:spcAft>
                <a:spcPct val="0"/>
              </a:spcAft>
              <a:defRPr sz="6900">
                <a:solidFill>
                  <a:schemeClr val="tx1"/>
                </a:solidFill>
                <a:latin typeface="Arial" charset="0"/>
              </a:defRPr>
            </a:lvl7pPr>
            <a:lvl8pPr marL="2619375" indent="-274638" algn="ctr" defTabSz="488950" eaLnBrk="0" fontAlgn="base" hangingPunct="0">
              <a:spcBef>
                <a:spcPct val="0"/>
              </a:spcBef>
              <a:spcAft>
                <a:spcPct val="0"/>
              </a:spcAft>
              <a:defRPr sz="6900">
                <a:solidFill>
                  <a:schemeClr val="tx1"/>
                </a:solidFill>
                <a:latin typeface="Arial" charset="0"/>
              </a:defRPr>
            </a:lvl8pPr>
            <a:lvl9pPr marL="3076575" indent="-274638" algn="ctr" defTabSz="488950" eaLnBrk="0" fontAlgn="base" hangingPunct="0">
              <a:spcBef>
                <a:spcPct val="0"/>
              </a:spcBef>
              <a:spcAft>
                <a:spcPct val="0"/>
              </a:spcAft>
              <a:defRPr sz="6900">
                <a:solidFill>
                  <a:schemeClr val="tx1"/>
                </a:solidFill>
                <a:latin typeface="Arial" charset="0"/>
              </a:defRPr>
            </a:lvl9pPr>
          </a:lstStyle>
          <a:p>
            <a:pPr marL="457200" indent="-457200" algn="just">
              <a:lnSpc>
                <a:spcPct val="95000"/>
              </a:lnSpc>
              <a:buFont typeface="+mj-lt"/>
              <a:buAutoNum type="arabicPeriod"/>
            </a:pPr>
            <a:r>
              <a:rPr lang="en-US" altLang="en-US" sz="2400" b="1" dirty="0">
                <a:latin typeface="Times New Roman" pitchFamily="18" charset="0"/>
              </a:rPr>
              <a:t>Alaa </a:t>
            </a:r>
            <a:r>
              <a:rPr lang="en-US" altLang="en-US" sz="2400" b="1" dirty="0" err="1">
                <a:latin typeface="Times New Roman" pitchFamily="18" charset="0"/>
              </a:rPr>
              <a:t>Mansy</a:t>
            </a:r>
            <a:r>
              <a:rPr lang="en-US" altLang="en-US" sz="2400" b="1" dirty="0">
                <a:latin typeface="Times New Roman" pitchFamily="18" charset="0"/>
              </a:rPr>
              <a:t>, Sherine Rady, and Tarek Gharib. "An ensemble deep learning approach for emotion detection in </a:t>
            </a:r>
            <a:r>
              <a:rPr lang="en-US" altLang="en-US" sz="2400" b="1" dirty="0" err="1">
                <a:latin typeface="Times New Roman" pitchFamily="18" charset="0"/>
              </a:rPr>
              <a:t>arabic</a:t>
            </a:r>
            <a:r>
              <a:rPr lang="en-US" altLang="en-US" sz="2400" b="1" dirty="0">
                <a:latin typeface="Times New Roman" pitchFamily="18" charset="0"/>
              </a:rPr>
              <a:t> tweets." International Journal of Advanced Computer Science and Applications 13.4 (2022).</a:t>
            </a:r>
          </a:p>
          <a:p>
            <a:pPr marL="457200" indent="-457200" algn="just">
              <a:lnSpc>
                <a:spcPct val="95000"/>
              </a:lnSpc>
              <a:buFont typeface="+mj-lt"/>
              <a:buAutoNum type="arabicPeriod"/>
            </a:pPr>
            <a:endParaRPr lang="en-US" altLang="en-US" sz="2400" b="1" dirty="0">
              <a:latin typeface="Times New Roman" pitchFamily="18" charset="0"/>
            </a:endParaRPr>
          </a:p>
          <a:p>
            <a:pPr marL="457200" indent="-457200" algn="just">
              <a:lnSpc>
                <a:spcPct val="95000"/>
              </a:lnSpc>
              <a:buFont typeface="+mj-lt"/>
              <a:buAutoNum type="arabicPeriod"/>
            </a:pPr>
            <a:r>
              <a:rPr lang="en-US" altLang="en-US" sz="2400" b="1" dirty="0">
                <a:latin typeface="Times New Roman" pitchFamily="18" charset="0"/>
              </a:rPr>
              <a:t>N. </a:t>
            </a:r>
            <a:r>
              <a:rPr lang="en-US" altLang="en-US" sz="2400" b="1" dirty="0" err="1">
                <a:latin typeface="Times New Roman" pitchFamily="18" charset="0"/>
              </a:rPr>
              <a:t>Alswaidan</a:t>
            </a:r>
            <a:r>
              <a:rPr lang="en-US" altLang="en-US" sz="2400" b="1" dirty="0">
                <a:latin typeface="Times New Roman" pitchFamily="18" charset="0"/>
              </a:rPr>
              <a:t> and M. E. B. Menai, "Hybrid Feature Model for Emotion Recognition in Arabic Text," IEEE Access, vol. 8, pp. 37843-37854,  2020, </a:t>
            </a:r>
            <a:r>
              <a:rPr lang="en-US" altLang="en-US" sz="2400" b="1" dirty="0" err="1">
                <a:latin typeface="Times New Roman" pitchFamily="18" charset="0"/>
              </a:rPr>
              <a:t>doi</a:t>
            </a:r>
            <a:r>
              <a:rPr lang="en-US" altLang="en-US" sz="2400" b="1" dirty="0">
                <a:latin typeface="Times New Roman" pitchFamily="18" charset="0"/>
              </a:rPr>
              <a:t>: 10.1109/ACCESS.2020.2975906.</a:t>
            </a:r>
          </a:p>
          <a:p>
            <a:pPr marL="457200" indent="-457200" algn="just">
              <a:lnSpc>
                <a:spcPct val="95000"/>
              </a:lnSpc>
              <a:buFont typeface="+mj-lt"/>
              <a:buAutoNum type="arabicPeriod"/>
            </a:pPr>
            <a:endParaRPr lang="en-US" altLang="en-US" sz="2400" b="1" dirty="0">
              <a:latin typeface="Times New Roman" pitchFamily="18" charset="0"/>
            </a:endParaRPr>
          </a:p>
          <a:p>
            <a:pPr marL="457200" indent="-457200" algn="just">
              <a:lnSpc>
                <a:spcPct val="95000"/>
              </a:lnSpc>
              <a:buFont typeface="+mj-lt"/>
              <a:buAutoNum type="arabicPeriod"/>
            </a:pPr>
            <a:r>
              <a:rPr lang="en-US" altLang="en-US" sz="2400" b="1" dirty="0">
                <a:latin typeface="Times New Roman" pitchFamily="18" charset="0"/>
              </a:rPr>
              <a:t>H. </a:t>
            </a:r>
            <a:r>
              <a:rPr lang="en-US" altLang="en-US" sz="2400" b="1" dirty="0" err="1">
                <a:latin typeface="Times New Roman" pitchFamily="18" charset="0"/>
              </a:rPr>
              <a:t>Elfaik</a:t>
            </a:r>
            <a:r>
              <a:rPr lang="en-US" altLang="en-US" sz="2400" b="1" dirty="0">
                <a:latin typeface="Times New Roman" pitchFamily="18" charset="0"/>
              </a:rPr>
              <a:t> and E. H. </a:t>
            </a:r>
            <a:r>
              <a:rPr lang="en-US" altLang="en-US" sz="2400" b="1" dirty="0" err="1">
                <a:latin typeface="Times New Roman" pitchFamily="18" charset="0"/>
              </a:rPr>
              <a:t>Nfaoui</a:t>
            </a:r>
            <a:r>
              <a:rPr lang="en-US" altLang="en-US" sz="2400" b="1" dirty="0">
                <a:latin typeface="Times New Roman" pitchFamily="18" charset="0"/>
              </a:rPr>
              <a:t>, "Combining Context-Aware Embeddings and an Attentional Deep Learning Model for Arabic Affect Analysis  on Twitter," IEEE Access, vol. 9, pp. 111214-111230, 2021, </a:t>
            </a:r>
            <a:r>
              <a:rPr lang="en-US" altLang="en-US" sz="2400" b="1" dirty="0" err="1">
                <a:latin typeface="Times New Roman" pitchFamily="18" charset="0"/>
              </a:rPr>
              <a:t>doi</a:t>
            </a:r>
            <a:r>
              <a:rPr lang="en-US" altLang="en-US" sz="2400" b="1" dirty="0">
                <a:latin typeface="Times New Roman" pitchFamily="18" charset="0"/>
              </a:rPr>
              <a:t>: 10.1109/ACCESS.2021.3102087.</a:t>
            </a:r>
          </a:p>
        </p:txBody>
      </p:sp>
      <p:sp>
        <p:nvSpPr>
          <p:cNvPr id="2061" name="Text Box 40"/>
          <p:cNvSpPr txBox="1">
            <a:spLocks noChangeArrowheads="1"/>
          </p:cNvSpPr>
          <p:nvPr/>
        </p:nvSpPr>
        <p:spPr bwMode="auto">
          <a:xfrm>
            <a:off x="13405713" y="24252870"/>
            <a:ext cx="11120437" cy="53121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just">
              <a:lnSpc>
                <a:spcPct val="95000"/>
              </a:lnSpc>
            </a:pPr>
            <a:r>
              <a:rPr lang="en-GB" altLang="en-US" sz="2400" dirty="0">
                <a:latin typeface="Times New Roman" pitchFamily="18" charset="0"/>
              </a:rPr>
              <a:t>Our In this study, we developed a web application for Arabic sentiment analysis, achieving significant advancements in natural language processing (NLP) tailored to Arabic text. By employing sophisticated models such as Bidirectional Gated Recurrent Units (Bi-GRU), Bidirectional Long Short-Term Memory (Bi-LSTM), MARBERT, and Random Forest in a stacking ensemble approach, we achieved a high accuracy rate of 90%. This demonstrates the efficacy of our methodology in accurately detecting and classifying a wide range of emotions, including love, anger, fear, and more.</a:t>
            </a:r>
          </a:p>
          <a:p>
            <a:pPr algn="just">
              <a:lnSpc>
                <a:spcPct val="95000"/>
              </a:lnSpc>
            </a:pPr>
            <a:endParaRPr lang="en-GB" altLang="en-US" sz="2400" dirty="0">
              <a:latin typeface="Times New Roman" pitchFamily="18" charset="0"/>
            </a:endParaRPr>
          </a:p>
          <a:p>
            <a:pPr algn="just">
              <a:lnSpc>
                <a:spcPct val="95000"/>
              </a:lnSpc>
            </a:pPr>
            <a:r>
              <a:rPr lang="en-GB" altLang="en-US" sz="2400" dirty="0">
                <a:latin typeface="Times New Roman" pitchFamily="18" charset="0"/>
              </a:rPr>
              <a:t>Our application is designed with user convenience and versatility in mind, offering two primary functionalities. Users can upload Excel sheets containing textual data for comprehensive analysis, complete with a detailed dashboard and an option to download the enriched dataset with emotion classifications. Additionally, users can search for specific keywords to retrieve and analyse the latest 50 tweets from Twitter, providing real-time insights into public sentiment. The resulting dashboards present a clear and intuitive </a:t>
            </a:r>
          </a:p>
          <a:p>
            <a:pPr algn="just">
              <a:lnSpc>
                <a:spcPct val="95000"/>
              </a:lnSpc>
            </a:pPr>
            <a:r>
              <a:rPr lang="en-GB" altLang="en-US" sz="2400" dirty="0">
                <a:latin typeface="Times New Roman" pitchFamily="18" charset="0"/>
              </a:rPr>
              <a:t>visualization of the sentiment distribution, enhancing data interpretation and utilization.</a:t>
            </a:r>
            <a:endParaRPr lang="en-US" altLang="en-US" sz="2400" dirty="0">
              <a:latin typeface="Times New Roman" pitchFamily="18" charset="0"/>
            </a:endParaRPr>
          </a:p>
        </p:txBody>
      </p:sp>
      <p:sp>
        <p:nvSpPr>
          <p:cNvPr id="2062" name="Text Box 42"/>
          <p:cNvSpPr txBox="1">
            <a:spLocks noChangeArrowheads="1"/>
          </p:cNvSpPr>
          <p:nvPr/>
        </p:nvSpPr>
        <p:spPr bwMode="auto">
          <a:xfrm>
            <a:off x="3368675" y="7165975"/>
            <a:ext cx="5645150"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latin typeface="Times New Roman" panose="02020603050405020304" pitchFamily="18" charset="0"/>
                <a:cs typeface="Times New Roman" panose="02020603050405020304" pitchFamily="18" charset="0"/>
              </a:rPr>
              <a:t>Introduction</a:t>
            </a:r>
          </a:p>
        </p:txBody>
      </p:sp>
      <p:sp>
        <p:nvSpPr>
          <p:cNvPr id="2063" name="Text Box 43"/>
          <p:cNvSpPr txBox="1">
            <a:spLocks noChangeArrowheads="1"/>
          </p:cNvSpPr>
          <p:nvPr/>
        </p:nvSpPr>
        <p:spPr bwMode="auto">
          <a:xfrm>
            <a:off x="16210265" y="7053262"/>
            <a:ext cx="5645150"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latin typeface="Times New Roman" panose="02020603050405020304" pitchFamily="18" charset="0"/>
                <a:cs typeface="Times New Roman" panose="02020603050405020304" pitchFamily="18" charset="0"/>
              </a:rPr>
              <a:t>Results</a:t>
            </a:r>
          </a:p>
        </p:txBody>
      </p:sp>
      <p:sp>
        <p:nvSpPr>
          <p:cNvPr id="2065" name="Text Box 19"/>
          <p:cNvSpPr txBox="1">
            <a:spLocks noChangeArrowheads="1"/>
          </p:cNvSpPr>
          <p:nvPr/>
        </p:nvSpPr>
        <p:spPr bwMode="auto">
          <a:xfrm>
            <a:off x="13440639" y="19798986"/>
            <a:ext cx="11050587" cy="2785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marL="0" indent="0" algn="just"/>
            <a:r>
              <a:rPr lang="en-GB" sz="2500" b="1" dirty="0">
                <a:latin typeface="Times New Roman" panose="02020603050405020304" pitchFamily="18" charset="0"/>
                <a:cs typeface="Times New Roman" panose="02020603050405020304" pitchFamily="18" charset="0"/>
              </a:rPr>
              <a:t>Developing a web application that have:</a:t>
            </a:r>
          </a:p>
          <a:p>
            <a:pPr algn="just">
              <a:buFont typeface="Arial" panose="020B0604020202020204" pitchFamily="34" charset="0"/>
              <a:buChar char="•"/>
            </a:pPr>
            <a:r>
              <a:rPr lang="en-GB" sz="2500" b="1" dirty="0">
                <a:latin typeface="Times New Roman" panose="02020603050405020304" pitchFamily="18" charset="0"/>
                <a:cs typeface="Times New Roman" panose="02020603050405020304" pitchFamily="18" charset="0"/>
              </a:rPr>
              <a:t>Batch Analysis:</a:t>
            </a:r>
            <a:r>
              <a:rPr lang="en-GB" sz="2500" dirty="0">
                <a:latin typeface="Times New Roman" panose="02020603050405020304" pitchFamily="18" charset="0"/>
                <a:cs typeface="Times New Roman" panose="02020603050405020304" pitchFamily="18" charset="0"/>
              </a:rPr>
              <a:t> Users can upload CSV files for batch processing, where the system analyses each text entry for sentiment.</a:t>
            </a:r>
          </a:p>
          <a:p>
            <a:pPr algn="just">
              <a:buFont typeface="Arial" panose="020B0604020202020204" pitchFamily="34" charset="0"/>
              <a:buChar char="•"/>
            </a:pPr>
            <a:r>
              <a:rPr lang="en-GB" sz="2500" b="1" dirty="0">
                <a:latin typeface="Times New Roman" panose="02020603050405020304" pitchFamily="18" charset="0"/>
                <a:cs typeface="Times New Roman" panose="02020603050405020304" pitchFamily="18" charset="0"/>
              </a:rPr>
              <a:t>Real-Time Analysis:</a:t>
            </a:r>
            <a:r>
              <a:rPr lang="en-GB" sz="2500" dirty="0">
                <a:latin typeface="Times New Roman" panose="02020603050405020304" pitchFamily="18" charset="0"/>
                <a:cs typeface="Times New Roman" panose="02020603050405020304" pitchFamily="18" charset="0"/>
              </a:rPr>
              <a:t> Users can input keywords to fetch and analyse tweets from Twitter in real-time.</a:t>
            </a:r>
          </a:p>
          <a:p>
            <a:pPr algn="just">
              <a:buFont typeface="Arial" panose="020B0604020202020204" pitchFamily="34" charset="0"/>
              <a:buChar char="•"/>
            </a:pPr>
            <a:r>
              <a:rPr lang="en-GB" sz="2500" b="1" dirty="0">
                <a:latin typeface="Times New Roman" panose="02020603050405020304" pitchFamily="18" charset="0"/>
                <a:cs typeface="Times New Roman" panose="02020603050405020304" pitchFamily="18" charset="0"/>
              </a:rPr>
              <a:t>Dashboard:</a:t>
            </a:r>
            <a:r>
              <a:rPr lang="en-GB" sz="2500" dirty="0">
                <a:latin typeface="Times New Roman" panose="02020603050405020304" pitchFamily="18" charset="0"/>
                <a:cs typeface="Times New Roman" panose="02020603050405020304" pitchFamily="18" charset="0"/>
              </a:rPr>
              <a:t> The interactive dashboard displays sentiment distribution, detailed analytics, and allows users to download reports in various CSV format.</a:t>
            </a:r>
          </a:p>
        </p:txBody>
      </p:sp>
      <p:sp>
        <p:nvSpPr>
          <p:cNvPr id="3" name="Text Box 19">
            <a:extLst>
              <a:ext uri="{FF2B5EF4-FFF2-40B4-BE49-F238E27FC236}">
                <a16:creationId xmlns:a16="http://schemas.microsoft.com/office/drawing/2014/main" id="{8D53FFB1-D23F-D80B-87BD-F87D4831301D}"/>
              </a:ext>
            </a:extLst>
          </p:cNvPr>
          <p:cNvSpPr txBox="1">
            <a:spLocks noChangeArrowheads="1"/>
          </p:cNvSpPr>
          <p:nvPr/>
        </p:nvSpPr>
        <p:spPr bwMode="auto">
          <a:xfrm>
            <a:off x="17128093" y="15325318"/>
            <a:ext cx="344832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marL="0" indent="0" algn="l" eaLnBrk="1" hangingPunct="1">
              <a:lnSpc>
                <a:spcPct val="80000"/>
              </a:lnSpc>
              <a:spcBef>
                <a:spcPct val="50000"/>
              </a:spcBef>
            </a:pPr>
            <a:r>
              <a:rPr lang="en-US" altLang="en-US" sz="2000" dirty="0">
                <a:latin typeface="Times New Roman" panose="02020603050405020304" pitchFamily="18" charset="0"/>
                <a:cs typeface="Times New Roman" panose="02020603050405020304" pitchFamily="18" charset="0"/>
              </a:rPr>
              <a:t>Table 1: Results of used Models</a:t>
            </a:r>
          </a:p>
        </p:txBody>
      </p:sp>
      <p:pic>
        <p:nvPicPr>
          <p:cNvPr id="9" name="Picture 8" descr="A diagram of a computer&#10;&#10;Description automatically generated">
            <a:extLst>
              <a:ext uri="{FF2B5EF4-FFF2-40B4-BE49-F238E27FC236}">
                <a16:creationId xmlns:a16="http://schemas.microsoft.com/office/drawing/2014/main" id="{A35B689F-D4A8-4AF1-9883-03A621066A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5693" y="29565057"/>
            <a:ext cx="9547038" cy="5347832"/>
          </a:xfrm>
          <a:prstGeom prst="rect">
            <a:avLst/>
          </a:prstGeom>
        </p:spPr>
      </p:pic>
      <p:sp>
        <p:nvSpPr>
          <p:cNvPr id="6" name="Text Box 19">
            <a:extLst>
              <a:ext uri="{FF2B5EF4-FFF2-40B4-BE49-F238E27FC236}">
                <a16:creationId xmlns:a16="http://schemas.microsoft.com/office/drawing/2014/main" id="{26FA0148-62CD-913C-F679-717B7FB52A4E}"/>
              </a:ext>
            </a:extLst>
          </p:cNvPr>
          <p:cNvSpPr txBox="1">
            <a:spLocks noChangeArrowheads="1"/>
          </p:cNvSpPr>
          <p:nvPr/>
        </p:nvSpPr>
        <p:spPr bwMode="auto">
          <a:xfrm>
            <a:off x="4558979" y="35000199"/>
            <a:ext cx="32604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33400" indent="-533400"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marL="0" indent="0" algn="l" eaLnBrk="1" hangingPunct="1">
              <a:lnSpc>
                <a:spcPct val="80000"/>
              </a:lnSpc>
              <a:spcBef>
                <a:spcPct val="50000"/>
              </a:spcBef>
            </a:pPr>
            <a:r>
              <a:rPr lang="en-US" altLang="en-US" sz="2000" dirty="0">
                <a:latin typeface="Times New Roman" panose="02020603050405020304" pitchFamily="18" charset="0"/>
                <a:cs typeface="Times New Roman" panose="02020603050405020304" pitchFamily="18" charset="0"/>
              </a:rPr>
              <a:t>Figure 1 System Architecture </a:t>
            </a:r>
          </a:p>
        </p:txBody>
      </p:sp>
      <p:pic>
        <p:nvPicPr>
          <p:cNvPr id="13" name="Picture 12">
            <a:extLst>
              <a:ext uri="{FF2B5EF4-FFF2-40B4-BE49-F238E27FC236}">
                <a16:creationId xmlns:a16="http://schemas.microsoft.com/office/drawing/2014/main" id="{ED92F6DC-F2F6-D474-EB76-E6994FD0222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bwMode="auto">
          <a:xfrm>
            <a:off x="14928800" y="15689094"/>
            <a:ext cx="7846912" cy="3679015"/>
          </a:xfrm>
          <a:prstGeom prst="rect">
            <a:avLst/>
          </a:prstGeom>
        </p:spPr>
      </p:pic>
      <p:sp>
        <p:nvSpPr>
          <p:cNvPr id="2" name="TextBox 1">
            <a:extLst>
              <a:ext uri="{FF2B5EF4-FFF2-40B4-BE49-F238E27FC236}">
                <a16:creationId xmlns:a16="http://schemas.microsoft.com/office/drawing/2014/main" id="{304A1FA5-0D51-B68A-0E23-42BD322CCA6D}"/>
              </a:ext>
            </a:extLst>
          </p:cNvPr>
          <p:cNvSpPr txBox="1"/>
          <p:nvPr/>
        </p:nvSpPr>
        <p:spPr>
          <a:xfrm>
            <a:off x="13513767" y="13869502"/>
            <a:ext cx="10904333" cy="1246495"/>
          </a:xfrm>
          <a:prstGeom prst="rect">
            <a:avLst/>
          </a:prstGeom>
          <a:noFill/>
        </p:spPr>
        <p:txBody>
          <a:bodyPr wrap="square" rtlCol="0">
            <a:spAutoFit/>
          </a:bodyPr>
          <a:lstStyle/>
          <a:p>
            <a:pPr algn="just"/>
            <a:r>
              <a:rPr lang="en-GB" sz="2500" b="1" dirty="0">
                <a:latin typeface="Times New Roman" panose="02020603050405020304" pitchFamily="18" charset="0"/>
                <a:cs typeface="Times New Roman" panose="02020603050405020304" pitchFamily="18" charset="0"/>
              </a:rPr>
              <a:t>Performance Metrics:</a:t>
            </a:r>
          </a:p>
          <a:p>
            <a:pPr algn="just">
              <a:buFont typeface="Arial" panose="020B0604020202020204" pitchFamily="34" charset="0"/>
              <a:buChar char="•"/>
            </a:pPr>
            <a:r>
              <a:rPr lang="en-GB" sz="2500" dirty="0">
                <a:latin typeface="Times New Roman" panose="02020603050405020304" pitchFamily="18" charset="0"/>
                <a:cs typeface="Times New Roman" panose="02020603050405020304" pitchFamily="18" charset="0"/>
              </a:rPr>
              <a:t>The ensemble model achieves an accuracy of 90%, a recall of 90%, and an F1 score of 91%.</a:t>
            </a:r>
          </a:p>
        </p:txBody>
      </p:sp>
      <p:pic>
        <p:nvPicPr>
          <p:cNvPr id="1030" name="Picture 6" descr="The Impact Of The Arabic Language And Culture On English And The Other  European Languages">
            <a:extLst>
              <a:ext uri="{FF2B5EF4-FFF2-40B4-BE49-F238E27FC236}">
                <a16:creationId xmlns:a16="http://schemas.microsoft.com/office/drawing/2014/main" id="{88CB90E1-01EF-890A-D48D-5D26F573D9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513767" y="8630886"/>
            <a:ext cx="10723733" cy="450141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7662CCF-EB2D-64DC-06A1-17712CC60372}"/>
              </a:ext>
            </a:extLst>
          </p:cNvPr>
          <p:cNvSpPr txBox="1"/>
          <p:nvPr/>
        </p:nvSpPr>
        <p:spPr>
          <a:xfrm>
            <a:off x="15899481" y="13319140"/>
            <a:ext cx="5738141" cy="400110"/>
          </a:xfrm>
          <a:prstGeom prst="rect">
            <a:avLst/>
          </a:prstGeom>
          <a:noFill/>
        </p:spPr>
        <p:txBody>
          <a:bodyPr wrap="square" rtlCol="0">
            <a:spAutoFit/>
          </a:bodyPr>
          <a:lstStyle/>
          <a:p>
            <a:r>
              <a:rPr lang="en-US" altLang="en-US" sz="2000" dirty="0">
                <a:latin typeface="Times New Roman" panose="02020603050405020304" pitchFamily="18" charset="0"/>
                <a:cs typeface="Times New Roman" panose="02020603050405020304" pitchFamily="18" charset="0"/>
              </a:rPr>
              <a:t>Figure 2: Arabic Culture</a:t>
            </a:r>
          </a:p>
        </p:txBody>
      </p:sp>
      <p:pic>
        <p:nvPicPr>
          <p:cNvPr id="10" name="Picture 2" descr="ASU | ASU Dashboard">
            <a:extLst>
              <a:ext uri="{FF2B5EF4-FFF2-40B4-BE49-F238E27FC236}">
                <a16:creationId xmlns:a16="http://schemas.microsoft.com/office/drawing/2014/main" id="{CFF4324E-99D7-E061-3647-09282F02FB6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0837" y="1458913"/>
            <a:ext cx="4874625" cy="4143173"/>
          </a:xfrm>
          <a:prstGeom prst="rect">
            <a:avLst/>
          </a:prstGeom>
          <a:extLst>
            <a:ext uri="{909E8E84-426E-40DD-AFC4-6F175D3DCCD1}">
              <a14:hiddenFill xmlns:a14="http://schemas.microsoft.com/office/drawing/2010/main">
                <a:solidFill>
                  <a:srgbClr val="FFFFFF"/>
                </a:solidFill>
              </a14:hiddenFill>
            </a:ext>
          </a:extLst>
        </p:spPr>
      </p:pic>
      <p:pic>
        <p:nvPicPr>
          <p:cNvPr id="15" name="Picture 14" descr="A logo with birds on it&#10;&#10;Description automatically generated">
            <a:extLst>
              <a:ext uri="{FF2B5EF4-FFF2-40B4-BE49-F238E27FC236}">
                <a16:creationId xmlns:a16="http://schemas.microsoft.com/office/drawing/2014/main" id="{E11F8F6A-974F-3A18-D18D-99328588BF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535096" y="512657"/>
            <a:ext cx="5666467" cy="5666467"/>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604</TotalTime>
  <Words>985</Words>
  <Application>Microsoft Office PowerPoint</Application>
  <PresentationFormat>Custom</PresentationFormat>
  <Paragraphs>62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Courier New</vt:lpstr>
      <vt:lpstr>Times New Roman</vt: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70x100 cm vertical poster template</dc:title>
  <dc:creator>Ethan Shulda;www.postersession.com</dc:creator>
  <cp:keywords>www.postersession.com</cp:keywords>
  <dc:description>©MegaPrint Inc. 2009-2015</dc:description>
  <cp:lastModifiedBy>على عبد الله محمد عبد الله</cp:lastModifiedBy>
  <cp:revision>72</cp:revision>
  <dcterms:created xsi:type="dcterms:W3CDTF">2008-12-04T00:20:37Z</dcterms:created>
  <dcterms:modified xsi:type="dcterms:W3CDTF">2024-06-28T23:42:18Z</dcterms:modified>
</cp:coreProperties>
</file>